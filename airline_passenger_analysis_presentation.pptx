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3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47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catalog.data.gov/dataset/air-traffic-passenger-statistic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593"/>
            <a:ext cx="5303520" cy="514350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0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16752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364224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11696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59168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06640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54112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01584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449056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96528" y="2743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16752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64224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11696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059168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754112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584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49056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96528" y="109728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9280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16752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64224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11696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59168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06640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54112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01584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449056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796528" y="192024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9280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16752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64224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711696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59168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406640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754112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01584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449056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796528" y="274320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69280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016752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64224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11696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059168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406640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754112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8101584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449056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796528" y="356616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669280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016752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364224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711696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059168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406640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754112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101584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449056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796528" y="4389120"/>
            <a:ext cx="36576" cy="36576"/>
          </a:xfrm>
          <a:prstGeom prst="ellipse">
            <a:avLst/>
          </a:prstGeom>
          <a:solidFill>
            <a:srgbClr val="1A73C8">
              <a:alpha val="40000"/>
            </a:srgbClr>
          </a:solidFill>
          <a:ln w="12700">
            <a:solidFill>
              <a:srgbClr val="1A73C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0040"/>
            <a:ext cx="411480" cy="411480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914400" y="347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INTERNATIONAL AIRPORT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411480" y="914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</a:t>
            </a:r>
            <a:endParaRPr lang="en-US" sz="3800" dirty="0"/>
          </a:p>
        </p:txBody>
      </p:sp>
      <p:sp>
        <p:nvSpPr>
          <p:cNvPr id="67" name="Text 64"/>
          <p:cNvSpPr/>
          <p:nvPr/>
        </p:nvSpPr>
        <p:spPr>
          <a:xfrm>
            <a:off x="411480" y="1554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3800" dirty="0"/>
          </a:p>
        </p:txBody>
      </p:sp>
      <p:sp>
        <p:nvSpPr>
          <p:cNvPr id="68" name="Text 65"/>
          <p:cNvSpPr/>
          <p:nvPr/>
        </p:nvSpPr>
        <p:spPr>
          <a:xfrm>
            <a:off x="411480" y="2194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Forecasting</a:t>
            </a:r>
            <a:endParaRPr lang="en-US" sz="3800" dirty="0"/>
          </a:p>
        </p:txBody>
      </p:sp>
      <p:sp>
        <p:nvSpPr>
          <p:cNvPr id="69" name="Shape 66"/>
          <p:cNvSpPr/>
          <p:nvPr/>
        </p:nvSpPr>
        <p:spPr>
          <a:xfrm>
            <a:off x="411480" y="2926080"/>
            <a:ext cx="1097280" cy="4114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411480" y="30906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Mangiri</a:t>
            </a:r>
            <a:endParaRPr lang="en-US" sz="1500" dirty="0"/>
          </a:p>
        </p:txBody>
      </p:sp>
      <p:sp>
        <p:nvSpPr>
          <p:cNvPr id="71" name="Text 68"/>
          <p:cNvSpPr/>
          <p:nvPr/>
        </p:nvSpPr>
        <p:spPr>
          <a:xfrm>
            <a:off x="411480" y="3401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Mr. Uzoma </a:t>
            </a:r>
            <a:r>
              <a:rPr lang="en-US" sz="1000" dirty="0" err="1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Ewurum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41148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Yrs</a:t>
            </a:r>
            <a:endParaRPr lang="en-US" sz="1100" dirty="0"/>
          </a:p>
        </p:txBody>
      </p:sp>
      <p:sp>
        <p:nvSpPr>
          <p:cNvPr id="73" name="Text 70"/>
          <p:cNvSpPr/>
          <p:nvPr/>
        </p:nvSpPr>
        <p:spPr>
          <a:xfrm>
            <a:off x="411480" y="4407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Span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160020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1999–2023</a:t>
            </a:r>
            <a:endParaRPr lang="en-US" sz="1100" dirty="0"/>
          </a:p>
        </p:txBody>
      </p:sp>
      <p:sp>
        <p:nvSpPr>
          <p:cNvPr id="75" name="Text 72"/>
          <p:cNvSpPr/>
          <p:nvPr/>
        </p:nvSpPr>
        <p:spPr>
          <a:xfrm>
            <a:off x="1600200" y="4407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78892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2788920" y="4407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3977640" y="4114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</a:t>
            </a:r>
            <a:endParaRPr lang="en-US" sz="1100" dirty="0"/>
          </a:p>
        </p:txBody>
      </p:sp>
      <p:sp>
        <p:nvSpPr>
          <p:cNvPr id="79" name="Text 76"/>
          <p:cNvSpPr/>
          <p:nvPr/>
        </p:nvSpPr>
        <p:spPr>
          <a:xfrm>
            <a:off x="3977640" y="4407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750" dirty="0"/>
          </a:p>
        </p:txBody>
      </p:sp>
      <p:sp>
        <p:nvSpPr>
          <p:cNvPr id="80" name="Text 77"/>
          <p:cNvSpPr/>
          <p:nvPr/>
        </p:nvSpPr>
        <p:spPr>
          <a:xfrm>
            <a:off x="5486400" y="10972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dirty="0">
                <a:solidFill>
                  <a:srgbClr val="1A3A5C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</a:t>
            </a:r>
            <a:endParaRPr lang="en-US" sz="18000" dirty="0"/>
          </a:p>
        </p:txBody>
      </p:sp>
      <p:sp>
        <p:nvSpPr>
          <p:cNvPr id="81" name="Text 78"/>
          <p:cNvSpPr/>
          <p:nvPr/>
        </p:nvSpPr>
        <p:spPr>
          <a:xfrm>
            <a:off x="5394960" y="4663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SFO  ·  1999 – 2023  ·  Monthly Traffic  ·  Forecasting Models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|  PROJECT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covers and how it is structured?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0604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527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58191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468880"/>
            <a:ext cx="23957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International Airport (SFO) monthly passenger data spanning 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1999 – September 2023.</a:t>
            </a:r>
          </a:p>
          <a:p>
            <a:pPr marL="0" indent="0" algn="l">
              <a:buNone/>
            </a:pPr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years of records sourced from Data.gov</a:t>
            </a:r>
          </a:p>
          <a:p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consisting various airline traffic types.</a:t>
            </a:r>
          </a:p>
          <a:p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</a:t>
            </a: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https://catalog.data.gov/dataset/air-traffic-passenger-statistics</a:t>
            </a: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64408" y="150876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64408" y="1508760"/>
            <a:ext cx="260604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01568" y="1527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58191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74136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74136" y="2468880"/>
            <a:ext cx="23957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/>
              <a:t>Exploratory analysis and data preparation for this project involved:</a:t>
            </a:r>
          </a:p>
          <a:p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Understanding the structure of the dataset</a:t>
            </a:r>
          </a:p>
          <a:p>
            <a:endParaRPr lang="en-US" sz="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Identifying multiple airline records per 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Aggregation of passenger counts across airlines to obtain total monthly demand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Confirming data quality (no missing / duplicates)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Identification of trends and seasonality</a:t>
            </a:r>
          </a:p>
          <a:p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71616" y="150876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6071616" y="1508760"/>
            <a:ext cx="260604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6208776" y="152704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158191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81344" y="20848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181344" y="2468880"/>
            <a:ext cx="239572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/>
              <a:t>Core metrics derived from the dataset to understand passenger demand patterns and support operational planning:</a:t>
            </a:r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0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Passenger Demand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Travel Months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on Year Growth Rate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Forecasted Passenger Demand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400" dirty="0">
              <a:solidFill>
                <a:srgbClr val="1C2B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Trend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|  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Dataset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85431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context for the airline passenger demand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9571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874520"/>
            <a:ext cx="4078224" cy="420624"/>
          </a:xfrm>
          <a:prstGeom prst="rect">
            <a:avLst/>
          </a:prstGeom>
          <a:solidFill>
            <a:srgbClr val="D6E8FA">
              <a:alpha val="70000"/>
            </a:srgbClr>
          </a:solidFill>
          <a:ln w="12700">
            <a:solidFill>
              <a:srgbClr val="D6E8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Passenger Counts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3591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1999 – September 2023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2752344"/>
            <a:ext cx="4078224" cy="420624"/>
          </a:xfrm>
          <a:prstGeom prst="rect">
            <a:avLst/>
          </a:prstGeom>
          <a:solidFill>
            <a:srgbClr val="D6E8FA">
              <a:alpha val="70000"/>
            </a:srgbClr>
          </a:solidFill>
          <a:ln w="12700">
            <a:solidFill>
              <a:srgbClr val="D6E8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7980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7980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Data.gov (Open Government Data)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236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2369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Passengers per Month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" y="3630168"/>
            <a:ext cx="4078224" cy="420624"/>
          </a:xfrm>
          <a:prstGeom prst="rect">
            <a:avLst/>
          </a:prstGeom>
          <a:solidFill>
            <a:srgbClr val="D6E8FA">
              <a:alpha val="70000"/>
            </a:srgbClr>
          </a:solidFill>
          <a:ln w="12700">
            <a:solidFill>
              <a:srgbClr val="D6E8F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6758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675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114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— no duplicates or missing values </a:t>
            </a:r>
            <a:r>
              <a:rPr lang="en-US" sz="1000" dirty="0"/>
              <a:t>within the observed period</a:t>
            </a:r>
          </a:p>
        </p:txBody>
      </p:sp>
      <p:sp>
        <p:nvSpPr>
          <p:cNvPr id="24" name="Shape 22"/>
          <p:cNvSpPr/>
          <p:nvPr/>
        </p:nvSpPr>
        <p:spPr>
          <a:xfrm>
            <a:off x="4846320" y="1463040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463040"/>
            <a:ext cx="54864" cy="96012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719072"/>
            <a:ext cx="347472" cy="34747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94960" y="1517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94960" y="18013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and airlines require accurate demand insight to plan terminal capacity, staffing levels, gate allocation, and supply chain logistics efficiently.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2542032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846320" y="2542032"/>
            <a:ext cx="54864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2798064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394960" y="2596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Analysis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39496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Identify seasonal demand patterns, analyze passenger growth trends, and generate reliable forecasts to support data-driven airport planning.</a:t>
            </a:r>
          </a:p>
        </p:txBody>
      </p:sp>
      <p:sp>
        <p:nvSpPr>
          <p:cNvPr id="34" name="Shape 30"/>
          <p:cNvSpPr/>
          <p:nvPr/>
        </p:nvSpPr>
        <p:spPr>
          <a:xfrm>
            <a:off x="4846320" y="3621024"/>
            <a:ext cx="3840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4846320" y="3621024"/>
            <a:ext cx="54864" cy="960120"/>
          </a:xfrm>
          <a:prstGeom prst="rect">
            <a:avLst/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877056"/>
            <a:ext cx="347472" cy="34747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5394960" y="3675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Forecasting?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5394960" y="3959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demand forecast enables proactive workforce scheduling, smarter procurement cycles, and evidence-based infrastructure planning.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7472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 |  PROBLEM STATEMENT &amp; OBJECTIVES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3375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44752"/>
            <a:ext cx="365760" cy="365760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7" name="Text 4"/>
          <p:cNvSpPr/>
          <p:nvPr/>
        </p:nvSpPr>
        <p:spPr>
          <a:xfrm>
            <a:off x="1051560" y="14447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92024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and airport operators require clear visibility into passenger demand patterns to support efficient planning and resource allocation.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this, they face:</a:t>
            </a:r>
          </a:p>
          <a:p>
            <a:endParaRPr lang="en-US" sz="1000" dirty="0">
              <a:solidFill>
                <a:srgbClr val="C8D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peak and low-demand travel periods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staffing and scheduling decisions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insight into seasonal passenger trends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alignment between demand patterns and operational planning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data-driven support for strategic decision-making</a:t>
            </a:r>
          </a:p>
          <a:p>
            <a:br>
              <a:rPr lang="en-US" sz="1000" dirty="0"/>
            </a:b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32588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54864" cy="74980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73168" y="1362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5270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380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Demand Patterns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166360" y="16550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seasonal trends, peak periods, and monthly variations in passenger traffic</a:t>
            </a:r>
          </a:p>
        </p:txBody>
      </p:sp>
      <p:sp>
        <p:nvSpPr>
          <p:cNvPr id="15" name="Shape 11"/>
          <p:cNvSpPr/>
          <p:nvPr/>
        </p:nvSpPr>
        <p:spPr>
          <a:xfrm>
            <a:off x="4663440" y="2157984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4663440" y="2157984"/>
            <a:ext cx="54864" cy="74980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773168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35915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6360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Demand Trends Over Time</a:t>
            </a:r>
          </a:p>
        </p:txBody>
      </p:sp>
      <p:sp>
        <p:nvSpPr>
          <p:cNvPr id="20" name="Text 15"/>
          <p:cNvSpPr/>
          <p:nvPr/>
        </p:nvSpPr>
        <p:spPr>
          <a:xfrm>
            <a:off x="516636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year-on-year growth patterns and major fluctuations in passenger volume</a:t>
            </a:r>
          </a:p>
        </p:txBody>
      </p:sp>
      <p:sp>
        <p:nvSpPr>
          <p:cNvPr id="21" name="Shape 16"/>
          <p:cNvSpPr/>
          <p:nvPr/>
        </p:nvSpPr>
        <p:spPr>
          <a:xfrm>
            <a:off x="4663440" y="2990088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663440" y="2990088"/>
            <a:ext cx="54864" cy="74980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773168" y="3026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319125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Forecasting Techniques</a:t>
            </a:r>
          </a:p>
        </p:txBody>
      </p:sp>
      <p:sp>
        <p:nvSpPr>
          <p:cNvPr id="26" name="Text 20"/>
          <p:cNvSpPr/>
          <p:nvPr/>
        </p:nvSpPr>
        <p:spPr>
          <a:xfrm>
            <a:off x="5166360" y="331927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forecasting methods and identify the most suitable model for short-term prediction</a:t>
            </a:r>
          </a:p>
        </p:txBody>
      </p:sp>
      <p:sp>
        <p:nvSpPr>
          <p:cNvPr id="27" name="Shape 21"/>
          <p:cNvSpPr/>
          <p:nvPr/>
        </p:nvSpPr>
        <p:spPr>
          <a:xfrm>
            <a:off x="4663440" y="3822192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663440" y="3822192"/>
            <a:ext cx="54864" cy="74980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773168" y="3858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02336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66360" y="3877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Operational Decision-Making</a:t>
            </a:r>
          </a:p>
        </p:txBody>
      </p:sp>
      <p:sp>
        <p:nvSpPr>
          <p:cNvPr id="32" name="Text 25"/>
          <p:cNvSpPr/>
          <p:nvPr/>
        </p:nvSpPr>
        <p:spPr>
          <a:xfrm>
            <a:off x="5166360" y="4151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data-driven insights for staffing, scheduling, and resource planning</a:t>
            </a:r>
          </a:p>
        </p:txBody>
      </p:sp>
      <p:sp>
        <p:nvSpPr>
          <p:cNvPr id="33" name="Text 26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75767"/>
            <a:ext cx="2286000" cy="30175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 |  EXPLORATORY DATA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quality, and key statistics of the dataset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1508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508760" cy="6400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481328"/>
            <a:ext cx="1508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481328"/>
            <a:ext cx="150876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5727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10312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1481328"/>
            <a:ext cx="1508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4760" y="1481328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15727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79476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481328"/>
            <a:ext cx="1508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1481328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15727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48640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1481328"/>
            <a:ext cx="1508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78040" y="1481328"/>
            <a:ext cx="1508760" cy="64008"/>
          </a:xfrm>
          <a:prstGeom prst="rect">
            <a:avLst/>
          </a:prstGeom>
          <a:solidFill>
            <a:srgbClr val="4A7BA7"/>
          </a:solidFill>
          <a:ln w="12700">
            <a:solidFill>
              <a:srgbClr val="4A7B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157276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7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17804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/ Year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82296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29077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Fields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337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Activity Period Start Date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606040" y="3337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Passenger Count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 |  DEMAND PATTERNS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Demand Patterns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passenger traffic reveals strong and consistent seasonality across 24 years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473952" y="1737360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989320" y="1781919"/>
            <a:ext cx="2743200" cy="119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989320" y="1781919"/>
            <a:ext cx="54864" cy="11919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973" y="1909644"/>
            <a:ext cx="292608" cy="2926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</p:pic>
      <p:sp>
        <p:nvSpPr>
          <p:cNvPr id="15" name="Text 10"/>
          <p:cNvSpPr/>
          <p:nvPr/>
        </p:nvSpPr>
        <p:spPr>
          <a:xfrm>
            <a:off x="6473952" y="182952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473952" y="2133165"/>
            <a:ext cx="2148840" cy="84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/>
              <a:t>Passenger demand follows a clear seasonal pattern</a:t>
            </a:r>
          </a:p>
          <a:p>
            <a:r>
              <a:rPr lang="en-US" sz="800" b="1" dirty="0"/>
              <a:t>Demand rises</a:t>
            </a:r>
            <a:r>
              <a:rPr lang="en-US" sz="800" dirty="0"/>
              <a:t> steadily from </a:t>
            </a:r>
            <a:r>
              <a:rPr lang="en-US" sz="800" b="1" dirty="0"/>
              <a:t>May</a:t>
            </a:r>
            <a:r>
              <a:rPr lang="en-US" sz="800" dirty="0"/>
              <a:t> to </a:t>
            </a:r>
            <a:r>
              <a:rPr lang="en-US" sz="800" b="1" dirty="0"/>
              <a:t>August</a:t>
            </a:r>
          </a:p>
          <a:p>
            <a:endParaRPr lang="en-US" sz="800" dirty="0"/>
          </a:p>
          <a:p>
            <a:r>
              <a:rPr lang="en-US" sz="800" b="1" dirty="0"/>
              <a:t>August </a:t>
            </a:r>
            <a:r>
              <a:rPr lang="en-US" sz="800" dirty="0"/>
              <a:t>and</a:t>
            </a:r>
            <a:r>
              <a:rPr lang="en-US" sz="800" b="1" dirty="0"/>
              <a:t> July </a:t>
            </a:r>
            <a:r>
              <a:rPr lang="en-US" sz="800" dirty="0"/>
              <a:t>represent </a:t>
            </a:r>
            <a:r>
              <a:rPr lang="en-US" sz="800" b="1" dirty="0"/>
              <a:t>peak travel months</a:t>
            </a:r>
          </a:p>
          <a:p>
            <a:endParaRPr lang="en-US" sz="800" dirty="0"/>
          </a:p>
          <a:p>
            <a:r>
              <a:rPr lang="en-US" sz="900" b="1" dirty="0"/>
              <a:t>August </a:t>
            </a:r>
            <a:r>
              <a:rPr lang="en-US" sz="900" dirty="0"/>
              <a:t>≈</a:t>
            </a:r>
            <a:r>
              <a:rPr lang="en-US" sz="900" b="1" dirty="0"/>
              <a:t> 3.92M passengers </a:t>
            </a:r>
            <a:r>
              <a:rPr lang="en-US" sz="900" dirty="0"/>
              <a:t>(Monthly Avg.)</a:t>
            </a:r>
          </a:p>
          <a:p>
            <a:r>
              <a:rPr lang="en-US" sz="900" b="1" dirty="0"/>
              <a:t>July </a:t>
            </a:r>
            <a:r>
              <a:rPr lang="en-US" sz="900" dirty="0"/>
              <a:t>≈</a:t>
            </a:r>
            <a:r>
              <a:rPr lang="en-US" sz="900" b="1" dirty="0"/>
              <a:t> 3.91M passengers </a:t>
            </a:r>
            <a:r>
              <a:rPr lang="en-US" sz="900" dirty="0"/>
              <a:t>(Monthly Avg.)</a:t>
            </a:r>
          </a:p>
          <a:p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5989320" y="3165903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5989320" y="3165903"/>
            <a:ext cx="54864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473952" y="3220767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Months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473952" y="3357927"/>
            <a:ext cx="2148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 the </a:t>
            </a:r>
            <a:r>
              <a:rPr lang="en-US" sz="8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demand</a:t>
            </a:r>
            <a:r>
              <a:rPr lang="en-US" sz="8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24A16D9-2D8C-72BF-AE48-5FCE5730E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22" y="1533696"/>
            <a:ext cx="5310343" cy="2763983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0D0788F-FCEF-240B-A081-4D02C53FC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6538" y="3291309"/>
            <a:ext cx="292608" cy="292608"/>
          </a:xfrm>
          <a:prstGeom prst="rect">
            <a:avLst/>
          </a:prstGeom>
          <a:solidFill>
            <a:srgbClr val="002060"/>
          </a:solidFill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 |  GROWTH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Growth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trajectory from 1999 to 2023 including the COVID-19 shock and recovery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+6.08%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Growth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463040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1463040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15544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+5.12%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2057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Growth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94760" y="1463040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794760" y="1463040"/>
            <a:ext cx="150876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94760" y="15544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+3.45%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94760" y="2057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Growth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1463040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150876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–71.41%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2057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COVID Shock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78040" y="1463040"/>
            <a:ext cx="1508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78040" y="1463040"/>
            <a:ext cx="1508760" cy="6400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178040" y="155448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2057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2021–2022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8FE7489-93A9-174A-D35E-77CC5180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2642616"/>
            <a:ext cx="6792216" cy="2284572"/>
          </a:xfrm>
          <a:prstGeom prst="rect">
            <a:avLst/>
          </a:prstGeom>
        </p:spPr>
      </p:pic>
      <p:sp>
        <p:nvSpPr>
          <p:cNvPr id="26" name="Shape 8">
            <a:extLst>
              <a:ext uri="{FF2B5EF4-FFF2-40B4-BE49-F238E27FC236}">
                <a16:creationId xmlns:a16="http://schemas.microsoft.com/office/drawing/2014/main" id="{043850F8-4E2C-9BA7-6CFC-B5E6C47B2502}"/>
              </a:ext>
            </a:extLst>
          </p:cNvPr>
          <p:cNvSpPr/>
          <p:nvPr/>
        </p:nvSpPr>
        <p:spPr>
          <a:xfrm>
            <a:off x="7173214" y="2766737"/>
            <a:ext cx="1540933" cy="6844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D59AC4D1-513D-693A-4292-6CCF880CCF84}"/>
              </a:ext>
            </a:extLst>
          </p:cNvPr>
          <p:cNvSpPr/>
          <p:nvPr/>
        </p:nvSpPr>
        <p:spPr>
          <a:xfrm>
            <a:off x="7150355" y="2776076"/>
            <a:ext cx="45719" cy="684449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C8D7D704-CB3A-55A4-A0E9-DDA04F2EDAF0}"/>
              </a:ext>
            </a:extLst>
          </p:cNvPr>
          <p:cNvSpPr/>
          <p:nvPr/>
        </p:nvSpPr>
        <p:spPr>
          <a:xfrm>
            <a:off x="7369977" y="2794506"/>
            <a:ext cx="1252729" cy="647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Continued</a:t>
            </a:r>
            <a:r>
              <a:rPr lang="en-US" sz="1000" b="1" dirty="0"/>
              <a:t> recovery </a:t>
            </a:r>
            <a:r>
              <a:rPr lang="en-US" sz="1000" dirty="0"/>
              <a:t>observed in </a:t>
            </a:r>
            <a:r>
              <a:rPr lang="en-US" sz="1000" b="1" dirty="0"/>
              <a:t>2022</a:t>
            </a:r>
            <a:r>
              <a:rPr lang="en-US" sz="1000" dirty="0"/>
              <a:t>, followed by a </a:t>
            </a:r>
            <a:r>
              <a:rPr lang="en-US" sz="1000" b="1" dirty="0"/>
              <a:t>slight decline</a:t>
            </a:r>
            <a:r>
              <a:rPr lang="en-US" sz="1000" dirty="0"/>
              <a:t> in </a:t>
            </a:r>
            <a:r>
              <a:rPr lang="en-US" sz="1000" b="1" dirty="0"/>
              <a:t>2023</a:t>
            </a:r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3EEABC69-42BF-EEDE-8158-6AB626DCD01E}"/>
              </a:ext>
            </a:extLst>
          </p:cNvPr>
          <p:cNvSpPr/>
          <p:nvPr/>
        </p:nvSpPr>
        <p:spPr>
          <a:xfrm>
            <a:off x="7191587" y="3635612"/>
            <a:ext cx="1540933" cy="11284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C4C087D7-747D-D7B8-121A-6C00EEE04FDF}"/>
              </a:ext>
            </a:extLst>
          </p:cNvPr>
          <p:cNvSpPr/>
          <p:nvPr/>
        </p:nvSpPr>
        <p:spPr>
          <a:xfrm>
            <a:off x="7168728" y="3644951"/>
            <a:ext cx="45719" cy="1128412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D03A167F-F27B-0F2F-548A-15D2ADC73EAF}"/>
              </a:ext>
            </a:extLst>
          </p:cNvPr>
          <p:cNvSpPr/>
          <p:nvPr/>
        </p:nvSpPr>
        <p:spPr>
          <a:xfrm>
            <a:off x="7369978" y="3848557"/>
            <a:ext cx="1252729" cy="721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u="sng" dirty="0"/>
              <a:t>Note</a:t>
            </a:r>
            <a:r>
              <a:rPr lang="en-US" sz="1000" b="1" dirty="0"/>
              <a:t>: 2023 growth </a:t>
            </a:r>
            <a:r>
              <a:rPr lang="en-US" sz="1000" dirty="0"/>
              <a:t>is based on </a:t>
            </a:r>
            <a:r>
              <a:rPr lang="en-US" sz="1000" b="1" dirty="0"/>
              <a:t>partial-year data </a:t>
            </a:r>
          </a:p>
          <a:p>
            <a:endParaRPr lang="en-US" sz="1000" dirty="0"/>
          </a:p>
          <a:p>
            <a:r>
              <a:rPr lang="en-US" sz="1000" dirty="0"/>
              <a:t>(Jan–Sep) and may not fully reflect annual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 |  MODEL COMPARISON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evaluated — Naïve Approach achieves the highest short-term accuracy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104294"/>
              </p:ext>
            </p:extLst>
          </p:nvPr>
        </p:nvGraphicFramePr>
        <p:xfrm>
          <a:off x="457200" y="1284514"/>
          <a:ext cx="7315200" cy="340360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622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274,701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A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Lowest MAE </a:t>
                      </a:r>
                      <a:r>
                        <a:rPr lang="en-US" sz="900" dirty="0"/>
                        <a:t>— best for short-term forecasting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Exponential Smoothing</a:t>
                      </a: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85%</a:t>
                      </a: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charset="0"/>
                          <a:ea typeface="Calibri" charset="0"/>
                          <a:cs typeface="Calibri" charset="0"/>
                        </a:rPr>
                        <a:t>287,493</a:t>
                      </a: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Low MAE — smooths noise but slightly less responsive than Naïve</a:t>
                      </a:r>
                      <a:endParaRPr lang="en-US" sz="900" dirty="0">
                        <a:solidFill>
                          <a:srgbClr val="1C2B3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Moving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392,656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smoothing noise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6-Month Moving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491,545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Lags behind trend shifts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601,276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Affected by sharp demand changes (e.g. 2020)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62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Forecast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673,970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/>
                        <a:t>Assumes steady trend — less accurate when demand changes abruptly</a:t>
                      </a:r>
                      <a:endParaRPr lang="en-US" sz="900" dirty="0">
                        <a:solidFill>
                          <a:srgbClr val="1C2B3A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223729"/>
                  </a:ext>
                </a:extLst>
              </a:tr>
            </a:tbl>
          </a:graphicData>
        </a:graphic>
      </p:graphicFrame>
      <p:sp>
        <p:nvSpPr>
          <p:cNvPr id="6" name="Text 6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 |  FORECAST RESULT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Result — Naïve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passenger demand forecast based on the highest-accuracy model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57600" cy="26517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03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4,325,689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(Next Period)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Naïve Approach  ·  Accuracy: 87%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89120" y="1463040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89120" y="1463040"/>
            <a:ext cx="54864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618488"/>
            <a:ext cx="256032" cy="2560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</p:pic>
      <p:sp>
        <p:nvSpPr>
          <p:cNvPr id="15" name="Text 11"/>
          <p:cNvSpPr/>
          <p:nvPr/>
        </p:nvSpPr>
        <p:spPr>
          <a:xfrm>
            <a:off x="4846320" y="1499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Demand Insight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46320" y="17373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Passenger demand is expected to remain relatively stable in the immediate next period.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389120" y="2295144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4389120" y="2295144"/>
            <a:ext cx="54864" cy="5943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2424468"/>
            <a:ext cx="256032" cy="256032"/>
          </a:xfrm>
          <a:prstGeom prst="rect">
            <a:avLst/>
          </a:prstGeom>
          <a:solidFill>
            <a:srgbClr val="00B0F0"/>
          </a:solidFill>
        </p:spPr>
      </p:pic>
      <p:sp>
        <p:nvSpPr>
          <p:cNvPr id="20" name="Text 15"/>
          <p:cNvSpPr/>
          <p:nvPr/>
        </p:nvSpPr>
        <p:spPr>
          <a:xfrm>
            <a:off x="4846320" y="2331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/>
              <a:t>Model Context</a:t>
            </a:r>
          </a:p>
        </p:txBody>
      </p:sp>
      <p:sp>
        <p:nvSpPr>
          <p:cNvPr id="21" name="Text 16"/>
          <p:cNvSpPr/>
          <p:nvPr/>
        </p:nvSpPr>
        <p:spPr>
          <a:xfrm>
            <a:off x="4846320" y="2569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The Naïve Approach produced the lowest Mean Absolute Error (MAE), making it the most reliable model for short-term forecasting.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389120" y="3163813"/>
            <a:ext cx="4297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4389120" y="3163813"/>
            <a:ext cx="54864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3273549"/>
            <a:ext cx="256032" cy="256032"/>
          </a:xfrm>
          <a:prstGeom prst="rect">
            <a:avLst/>
          </a:prstGeom>
          <a:solidFill>
            <a:srgbClr val="002060"/>
          </a:solidFill>
        </p:spPr>
      </p:pic>
      <p:sp>
        <p:nvSpPr>
          <p:cNvPr id="25" name="Text 19"/>
          <p:cNvSpPr/>
          <p:nvPr/>
        </p:nvSpPr>
        <p:spPr>
          <a:xfrm>
            <a:off x="4846320" y="3200389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/>
              <a:t>Practical Interpretation</a:t>
            </a:r>
          </a:p>
        </p:txBody>
      </p:sp>
      <p:sp>
        <p:nvSpPr>
          <p:cNvPr id="26" name="Text 20"/>
          <p:cNvSpPr/>
          <p:nvPr/>
        </p:nvSpPr>
        <p:spPr>
          <a:xfrm>
            <a:off x="4846320" y="3438133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The forecast reflects recent demand levels and is best used for short-term operational planning.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86000" cy="2011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46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 |  RECOMMENDATIONS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actions for operational planning and decision-making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489204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5B99FF2A-DFCA-F7E3-86F1-B06339D8D79D}"/>
              </a:ext>
            </a:extLst>
          </p:cNvPr>
          <p:cNvSpPr/>
          <p:nvPr/>
        </p:nvSpPr>
        <p:spPr>
          <a:xfrm>
            <a:off x="457200" y="1627632"/>
            <a:ext cx="2743200" cy="810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3ED14F1C-03B7-816F-C462-FC1B41090A9A}"/>
              </a:ext>
            </a:extLst>
          </p:cNvPr>
          <p:cNvSpPr/>
          <p:nvPr/>
        </p:nvSpPr>
        <p:spPr>
          <a:xfrm>
            <a:off x="457200" y="1627632"/>
            <a:ext cx="54864" cy="8107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1C82B474-ACDB-3333-4DE9-7D9780F36130}"/>
              </a:ext>
            </a:extLst>
          </p:cNvPr>
          <p:cNvSpPr/>
          <p:nvPr/>
        </p:nvSpPr>
        <p:spPr>
          <a:xfrm>
            <a:off x="941832" y="1675239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Staffing &amp; Capacity Planning</a:t>
            </a:r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F8E41168-4F7E-30E0-117D-BE21F8F7E862}"/>
              </a:ext>
            </a:extLst>
          </p:cNvPr>
          <p:cNvSpPr/>
          <p:nvPr/>
        </p:nvSpPr>
        <p:spPr>
          <a:xfrm>
            <a:off x="950250" y="1952317"/>
            <a:ext cx="2148840" cy="39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Increase staffing and operational capacity during peak months (May – August)</a:t>
            </a:r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4A24B145-5C6E-4B65-17C3-D6FA43D081A6}"/>
              </a:ext>
            </a:extLst>
          </p:cNvPr>
          <p:cNvSpPr/>
          <p:nvPr/>
        </p:nvSpPr>
        <p:spPr>
          <a:xfrm>
            <a:off x="457200" y="2669613"/>
            <a:ext cx="2743200" cy="810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7" name="Shape 9">
            <a:extLst>
              <a:ext uri="{FF2B5EF4-FFF2-40B4-BE49-F238E27FC236}">
                <a16:creationId xmlns:a16="http://schemas.microsoft.com/office/drawing/2014/main" id="{B0248B16-959B-C035-F497-D3B9A8FA3068}"/>
              </a:ext>
            </a:extLst>
          </p:cNvPr>
          <p:cNvSpPr/>
          <p:nvPr/>
        </p:nvSpPr>
        <p:spPr>
          <a:xfrm>
            <a:off x="457200" y="2669613"/>
            <a:ext cx="54864" cy="8107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91DF544A-D43D-0726-2643-7EE81F89CE2D}"/>
              </a:ext>
            </a:extLst>
          </p:cNvPr>
          <p:cNvSpPr/>
          <p:nvPr/>
        </p:nvSpPr>
        <p:spPr>
          <a:xfrm>
            <a:off x="941832" y="27172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Seasonal Planning</a:t>
            </a:r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25D7666D-8C61-9A15-6B6F-D22A1783EE5D}"/>
              </a:ext>
            </a:extLst>
          </p:cNvPr>
          <p:cNvSpPr/>
          <p:nvPr/>
        </p:nvSpPr>
        <p:spPr>
          <a:xfrm>
            <a:off x="950250" y="2994298"/>
            <a:ext cx="2148840" cy="39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Align scheduling and resource allocation with observed seasonal demand patterns</a:t>
            </a:r>
          </a:p>
        </p:txBody>
      </p:sp>
      <p:sp>
        <p:nvSpPr>
          <p:cNvPr id="60" name="Shape 8">
            <a:extLst>
              <a:ext uri="{FF2B5EF4-FFF2-40B4-BE49-F238E27FC236}">
                <a16:creationId xmlns:a16="http://schemas.microsoft.com/office/drawing/2014/main" id="{E8ADD702-18BC-A2FB-DE67-7625581E2E83}"/>
              </a:ext>
            </a:extLst>
          </p:cNvPr>
          <p:cNvSpPr/>
          <p:nvPr/>
        </p:nvSpPr>
        <p:spPr>
          <a:xfrm>
            <a:off x="4868045" y="1623084"/>
            <a:ext cx="2743200" cy="810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40AA4E71-DDA2-7FBB-F58B-4EAD522ED1DC}"/>
              </a:ext>
            </a:extLst>
          </p:cNvPr>
          <p:cNvSpPr/>
          <p:nvPr/>
        </p:nvSpPr>
        <p:spPr>
          <a:xfrm>
            <a:off x="4868045" y="1623084"/>
            <a:ext cx="54864" cy="8107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EDA94C34-334E-55E1-3B24-7C772DB91D9E}"/>
              </a:ext>
            </a:extLst>
          </p:cNvPr>
          <p:cNvSpPr/>
          <p:nvPr/>
        </p:nvSpPr>
        <p:spPr>
          <a:xfrm>
            <a:off x="5352677" y="1670691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Short-Term Forecasting Use</a:t>
            </a:r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E4B55781-C331-3029-B5AE-C1CA3C84518B}"/>
              </a:ext>
            </a:extLst>
          </p:cNvPr>
          <p:cNvSpPr/>
          <p:nvPr/>
        </p:nvSpPr>
        <p:spPr>
          <a:xfrm>
            <a:off x="5361095" y="1947769"/>
            <a:ext cx="2148840" cy="39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Use the Naïve model for rolling monthly forecasts to support operational decisions</a:t>
            </a:r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FF6A890A-E8AA-E7B8-608D-29000638DB45}"/>
              </a:ext>
            </a:extLst>
          </p:cNvPr>
          <p:cNvSpPr/>
          <p:nvPr/>
        </p:nvSpPr>
        <p:spPr>
          <a:xfrm>
            <a:off x="4868045" y="2669613"/>
            <a:ext cx="2743200" cy="810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13066B02-98F9-2F1C-A35A-C884ECB1451E}"/>
              </a:ext>
            </a:extLst>
          </p:cNvPr>
          <p:cNvSpPr/>
          <p:nvPr/>
        </p:nvSpPr>
        <p:spPr>
          <a:xfrm>
            <a:off x="4868045" y="2669613"/>
            <a:ext cx="54864" cy="810768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0885B049-55D9-75AD-3F3E-2DCBC56F941D}"/>
              </a:ext>
            </a:extLst>
          </p:cNvPr>
          <p:cNvSpPr/>
          <p:nvPr/>
        </p:nvSpPr>
        <p:spPr>
          <a:xfrm>
            <a:off x="5352677" y="27172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Continuous Monitoring</a:t>
            </a:r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4CF89083-D6F7-3F99-D6EA-0A751E525271}"/>
              </a:ext>
            </a:extLst>
          </p:cNvPr>
          <p:cNvSpPr/>
          <p:nvPr/>
        </p:nvSpPr>
        <p:spPr>
          <a:xfrm>
            <a:off x="5361095" y="2994298"/>
            <a:ext cx="2148840" cy="39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Regularly compare actual vs forecasted demand to improve accuracy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2743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743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0" y="2743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0" y="2743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0" y="2743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0" y="8686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8686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0" y="8686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0" y="8686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0" y="8686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0" y="8686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4630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58000" y="14630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15200" y="14630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72400" y="14630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14630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205740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00800" y="205740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205740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15200" y="205740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0" y="205740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29600" y="205740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265176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0" y="265176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0" y="265176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315200" y="265176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0" y="265176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229600" y="265176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43600" y="32461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00800" y="32461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58000" y="32461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315200" y="32461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0" y="32461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29600" y="324612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943600" y="38404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00800" y="38404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8000" y="38404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15200" y="38404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772400" y="38404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29600" y="384048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943600" y="44348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400800" y="44348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58000" y="44348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315200" y="44348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772400" y="44348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229600" y="4434840"/>
            <a:ext cx="45720" cy="45720"/>
          </a:xfrm>
          <a:prstGeom prst="ellipse">
            <a:avLst/>
          </a:prstGeom>
          <a:solidFill>
            <a:srgbClr val="1A73C8">
              <a:alpha val="45000"/>
            </a:srgbClr>
          </a:solidFill>
          <a:ln w="12700">
            <a:solidFill>
              <a:srgbClr val="1A73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2608"/>
            <a:ext cx="384048" cy="384048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713232" y="320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7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SUMMARY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228600" y="7132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4" name="Shape 51"/>
          <p:cNvSpPr/>
          <p:nvPr/>
        </p:nvSpPr>
        <p:spPr>
          <a:xfrm>
            <a:off x="228600" y="1325880"/>
            <a:ext cx="5440680" cy="594360"/>
          </a:xfrm>
          <a:prstGeom prst="rect">
            <a:avLst/>
          </a:prstGeom>
          <a:solidFill>
            <a:srgbClr val="0D1F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228600" y="1325880"/>
            <a:ext cx="54864" cy="5943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47472" y="149047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749808" y="138988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Seasonality </a:t>
            </a: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000" dirty="0"/>
              <a:t> </a:t>
            </a:r>
            <a:r>
              <a:rPr lang="en-US" sz="9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demand shows clear and consistent seasonal patterns, with peak travel during mid-year (July–August) and lower demand in February and November</a:t>
            </a:r>
            <a:r>
              <a:rPr lang="en-US" sz="1000" dirty="0"/>
              <a:t>.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228600" y="2002536"/>
            <a:ext cx="5440680" cy="594360"/>
          </a:xfrm>
          <a:prstGeom prst="rect">
            <a:avLst/>
          </a:prstGeom>
          <a:solidFill>
            <a:srgbClr val="0D1F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9" name="Shape 56"/>
          <p:cNvSpPr/>
          <p:nvPr/>
        </p:nvSpPr>
        <p:spPr>
          <a:xfrm>
            <a:off x="228600" y="2002536"/>
            <a:ext cx="54864" cy="5943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347472" y="216712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749808" y="2066544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Disruptions Exist </a:t>
            </a: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000" dirty="0"/>
              <a:t> </a:t>
            </a:r>
            <a:r>
              <a:rPr lang="en-US" sz="9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trends are generally stable but can experience sharp disruptions (e.g. 2020), which impact forecasting accuracy</a:t>
            </a:r>
          </a:p>
        </p:txBody>
      </p:sp>
      <p:sp>
        <p:nvSpPr>
          <p:cNvPr id="62" name="Shape 59"/>
          <p:cNvSpPr/>
          <p:nvPr/>
        </p:nvSpPr>
        <p:spPr>
          <a:xfrm>
            <a:off x="228600" y="2679192"/>
            <a:ext cx="5440680" cy="594360"/>
          </a:xfrm>
          <a:prstGeom prst="rect">
            <a:avLst/>
          </a:prstGeom>
          <a:solidFill>
            <a:srgbClr val="0D1F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228600" y="2679192"/>
            <a:ext cx="54864" cy="5943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347472" y="28437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5" name="Text 62"/>
          <p:cNvSpPr/>
          <p:nvPr/>
        </p:nvSpPr>
        <p:spPr>
          <a:xfrm>
            <a:off x="749808" y="274320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Model Performs Best (Short-Term) </a:t>
            </a:r>
            <a:r>
              <a:rPr lang="en-US" sz="100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Naïve Approach (87% accuracy) outperforms all other models tested for short-term forecasting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228600" y="3355848"/>
            <a:ext cx="5440680" cy="594360"/>
          </a:xfrm>
          <a:prstGeom prst="rect">
            <a:avLst/>
          </a:prstGeom>
          <a:solidFill>
            <a:srgbClr val="0D1F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28600" y="3355848"/>
            <a:ext cx="54864" cy="5943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347472" y="35204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731520" y="338328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Indicates Stable Demand </a:t>
            </a:r>
            <a:r>
              <a:rPr lang="en-US" sz="9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forecast of </a:t>
            </a:r>
            <a:r>
              <a:rPr lang="en-US" sz="950" b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4,325,689 passengers </a:t>
            </a:r>
            <a:r>
              <a:rPr lang="en-US" sz="9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next period supports stable near-term demand. </a:t>
            </a:r>
            <a:endParaRPr lang="en-US" sz="950" dirty="0"/>
          </a:p>
        </p:txBody>
      </p:sp>
      <p:sp>
        <p:nvSpPr>
          <p:cNvPr id="70" name="Shape 67"/>
          <p:cNvSpPr/>
          <p:nvPr/>
        </p:nvSpPr>
        <p:spPr>
          <a:xfrm>
            <a:off x="228600" y="4032504"/>
            <a:ext cx="5440680" cy="594360"/>
          </a:xfrm>
          <a:prstGeom prst="rect">
            <a:avLst/>
          </a:prstGeom>
          <a:solidFill>
            <a:srgbClr val="0D1F36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8"/>
          <p:cNvSpPr/>
          <p:nvPr/>
        </p:nvSpPr>
        <p:spPr>
          <a:xfrm>
            <a:off x="228600" y="4032504"/>
            <a:ext cx="54864" cy="5943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347472" y="419709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73" name="Text 70"/>
          <p:cNvSpPr/>
          <p:nvPr/>
        </p:nvSpPr>
        <p:spPr>
          <a:xfrm>
            <a:off x="749808" y="409651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planning </a:t>
            </a:r>
            <a:r>
              <a:rPr lang="en-US" sz="9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Using demand patterns and short-term forecasts can support better staffing, scheduling, and operational planning.</a:t>
            </a:r>
          </a:p>
        </p:txBody>
      </p:sp>
      <p:sp>
        <p:nvSpPr>
          <p:cNvPr id="74" name="Shape 71"/>
          <p:cNvSpPr/>
          <p:nvPr/>
        </p:nvSpPr>
        <p:spPr>
          <a:xfrm>
            <a:off x="5897880" y="594360"/>
            <a:ext cx="3017520" cy="4251960"/>
          </a:xfrm>
          <a:prstGeom prst="rect">
            <a:avLst/>
          </a:prstGeom>
          <a:solidFill>
            <a:srgbClr val="1A73C8"/>
          </a:solidFill>
          <a:ln w="12700">
            <a:solidFill>
              <a:srgbClr val="1A73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822960"/>
            <a:ext cx="1097280" cy="1097280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598932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Mangiri</a:t>
            </a:r>
            <a:endParaRPr lang="en-US" sz="1600" dirty="0"/>
          </a:p>
        </p:txBody>
      </p:sp>
      <p:sp>
        <p:nvSpPr>
          <p:cNvPr id="77" name="Text 73"/>
          <p:cNvSpPr/>
          <p:nvPr/>
        </p:nvSpPr>
        <p:spPr>
          <a:xfrm>
            <a:off x="5989320" y="25420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Forecast</a:t>
            </a:r>
            <a:endParaRPr lang="en-US" sz="1000" dirty="0"/>
          </a:p>
        </p:txBody>
      </p:sp>
      <p:sp>
        <p:nvSpPr>
          <p:cNvPr id="78" name="Shape 74"/>
          <p:cNvSpPr/>
          <p:nvPr/>
        </p:nvSpPr>
        <p:spPr>
          <a:xfrm>
            <a:off x="6714306" y="3246120"/>
            <a:ext cx="146304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5"/>
          <p:cNvSpPr/>
          <p:nvPr/>
        </p:nvSpPr>
        <p:spPr>
          <a:xfrm>
            <a:off x="5989320" y="33832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July 1999 – September 2023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Years  ·  Naïve Approach·  87% Accuracy</a:t>
            </a:r>
            <a:endParaRPr lang="en-US" sz="850" dirty="0"/>
          </a:p>
        </p:txBody>
      </p:sp>
      <p:sp>
        <p:nvSpPr>
          <p:cNvPr id="80" name="Text 76"/>
          <p:cNvSpPr/>
          <p:nvPr/>
        </p:nvSpPr>
        <p:spPr>
          <a:xfrm>
            <a:off x="5989320" y="41148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81" name="Text 77"/>
          <p:cNvSpPr/>
          <p:nvPr/>
        </p:nvSpPr>
        <p:spPr>
          <a:xfrm>
            <a:off x="22860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Passenger Demand Analysis &amp; Forecast  |  Barbara Mangiri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77240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</Words>
  <Application>Microsoft Office PowerPoint</Application>
  <PresentationFormat>On-screen Show (16:9)</PresentationFormat>
  <Paragraphs>249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Passenger Demand Analysis &amp; Forecast</dc:title>
  <dc:subject>PptxGenJS Presentation</dc:subject>
  <dc:creator>Barbara Mangiri</dc:creator>
  <cp:lastModifiedBy>Barbara Mangiri</cp:lastModifiedBy>
  <cp:revision>28</cp:revision>
  <dcterms:created xsi:type="dcterms:W3CDTF">2026-04-30T01:36:48Z</dcterms:created>
  <dcterms:modified xsi:type="dcterms:W3CDTF">2026-05-08T18:38:32Z</dcterms:modified>
</cp:coreProperties>
</file>